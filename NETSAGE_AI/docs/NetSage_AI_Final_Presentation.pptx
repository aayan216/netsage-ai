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/>
            </a:pPr>
            <a:r>
              <a:t>NETSAGE AI</a:t>
            </a:r>
          </a:p>
          <a:p>
            <a:pPr>
              <a:defRPr sz="2800"/>
            </a:pPr>
            <a:r>
              <a:t>Applied AI for Network Troubleshooting</a:t>
            </a:r>
          </a:p>
          <a:p>
            <a:pPr>
              <a:defRPr sz="1800"/>
            </a:pPr>
            <a:r>
              <a:t>Cisco Packet Tracer • Evidence-Based Diagnosis • Human-in-the-Loop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Packet Tracer labs can contain configuration faults that are difficult to diagnose from symptoms alone.</a:t>
            </a:r>
          </a:p>
          <a:p>
            <a:pPr>
              <a:spcAft>
                <a:spcPts val="1200"/>
              </a:spcAft>
              <a:defRPr sz="2000"/>
            </a:pPr>
            <a:r>
              <a:t>NetSage AI assists by combining symptoms with network evidence and structured troubleshooting reasoning.</a:t>
            </a:r>
          </a:p>
          <a:p>
            <a:pPr>
              <a:spcAft>
                <a:spcPts val="1200"/>
              </a:spcAft>
              <a:defRPr sz="2000"/>
            </a:pPr>
            <a:r>
              <a:t>The system is designed as an assistant: human review is required before corrective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 a minimum 30-case troubleshooting dataset.</a:t>
            </a:r>
          </a:p>
          <a:p>
            <a:pPr>
              <a:spcAft>
                <a:spcPts val="1200"/>
              </a:spcAft>
              <a:defRPr sz="2000"/>
            </a:pPr>
            <a:r>
              <a:t>Cover VLAN, gateway, DHCP, DNS, routing, ACL, NAT, and wireless faults.</a:t>
            </a:r>
          </a:p>
          <a:p>
            <a:pPr>
              <a:spcAft>
                <a:spcPts val="1200"/>
              </a:spcAft>
              <a:defRPr sz="2000"/>
            </a:pPr>
            <a:r>
              <a:t>Use actual/recorded network evidence and show-command context.</a:t>
            </a:r>
          </a:p>
          <a:p>
            <a:pPr>
              <a:spcAft>
                <a:spcPts val="1200"/>
              </a:spcAft>
              <a:defRPr sz="2000"/>
            </a:pPr>
            <a:r>
              <a:t>Combine deterministic Python checks with AI-assisted diagnosis.</a:t>
            </a:r>
          </a:p>
          <a:p>
            <a:pPr>
              <a:spcAft>
                <a:spcPts val="1200"/>
              </a:spcAft>
              <a:defRPr sz="2000"/>
            </a:pPr>
            <a:r>
              <a:t>Record human review and responsible-AI corrections.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NetSage 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Reproduce the network fault in Packet Tracer.</a:t>
            </a:r>
          </a:p>
          <a:p>
            <a:pPr>
              <a:spcAft>
                <a:spcPts val="1200"/>
              </a:spcAft>
              <a:defRPr sz="2000"/>
            </a:pPr>
            <a:r>
              <a:t>2. Collect symptom, topology, and show-command evidence.</a:t>
            </a:r>
          </a:p>
          <a:p>
            <a:pPr>
              <a:spcAft>
                <a:spcPts val="1200"/>
              </a:spcAft>
              <a:defRPr sz="2000"/>
            </a:pPr>
            <a:r>
              <a:t>3. Run deterministic rule checks where applicable.</a:t>
            </a:r>
          </a:p>
          <a:p>
            <a:pPr>
              <a:spcAft>
                <a:spcPts val="1200"/>
              </a:spcAft>
              <a:defRPr sz="2000"/>
            </a:pPr>
            <a:r>
              <a:t>4. Generate a structured AI diagnosis.</a:t>
            </a:r>
          </a:p>
          <a:p>
            <a:pPr>
              <a:spcAft>
                <a:spcPts val="1200"/>
              </a:spcAft>
              <a:defRPr sz="2000"/>
            </a:pPr>
            <a:r>
              <a:t>5. Human reviewer accepts, edits, or rejects the recommendation.</a:t>
            </a:r>
          </a:p>
          <a:p>
            <a:pPr>
              <a:spcAft>
                <a:spcPts val="1200"/>
              </a:spcAft>
              <a:defRPr sz="2000"/>
            </a:pPr>
            <a:r>
              <a:t>6. Apply the approved fix and verify connectivity.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Dataset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Total troubleshooting cases: 30</a:t>
            </a:r>
          </a:p>
          <a:p>
            <a:pPr>
              <a:spcAft>
                <a:spcPts val="1200"/>
              </a:spcAft>
              <a:defRPr sz="2000"/>
            </a:pPr>
            <a:r>
              <a:t>VLAN: configuration, assignment, trunk, missing VLAN, switchport mode.</a:t>
            </a:r>
          </a:p>
          <a:p>
            <a:pPr>
              <a:spcAft>
                <a:spcPts val="1200"/>
              </a:spcAft>
              <a:defRPr sz="2000"/>
            </a:pPr>
            <a:r>
              <a:t>Gateway: wrong, missing, or incorrect router LAN addressing.</a:t>
            </a:r>
          </a:p>
          <a:p>
            <a:pPr>
              <a:spcAft>
                <a:spcPts val="1200"/>
              </a:spcAft>
              <a:defRPr sz="2000"/>
            </a:pPr>
            <a:r>
              <a:t>DHCP: pool, exclusions, relay, and default-gateway faults.</a:t>
            </a:r>
          </a:p>
          <a:p>
            <a:pPr>
              <a:spcAft>
                <a:spcPts val="1200"/>
              </a:spcAft>
              <a:defRPr sz="2000"/>
            </a:pPr>
            <a:r>
              <a:t>DNS: server, service, and record faults.</a:t>
            </a:r>
          </a:p>
          <a:p>
            <a:pPr>
              <a:spcAft>
                <a:spcPts val="1200"/>
              </a:spcAft>
              <a:defRPr sz="2000"/>
            </a:pPr>
            <a:r>
              <a:t>Routing / ACL / NAT / Wireless: multiple configuration fault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Evidence-First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diagnosis prompt instructs the model to rely on supplied evidence.</a:t>
            </a:r>
          </a:p>
          <a:p>
            <a:pPr>
              <a:spcAft>
                <a:spcPts val="1200"/>
              </a:spcAft>
              <a:defRPr sz="2000"/>
            </a:pPr>
            <a:r>
              <a:t>Required outputs include: root cause, confidence, evidence, next command, and fix steps.</a:t>
            </a:r>
          </a:p>
          <a:p>
            <a:pPr>
              <a:spcAft>
                <a:spcPts val="1200"/>
              </a:spcAft>
              <a:defRPr sz="2000"/>
            </a:pPr>
            <a:r>
              <a:t>The response identifies the relevant OSI layer.</a:t>
            </a:r>
          </a:p>
          <a:p>
            <a:pPr>
              <a:spcAft>
                <a:spcPts val="1200"/>
              </a:spcAft>
              <a:defRPr sz="2000"/>
            </a:pPr>
            <a:r>
              <a:t>Exactly one next verification command is requested.</a:t>
            </a:r>
          </a:p>
          <a:p>
            <a:pPr>
              <a:spcAft>
                <a:spcPts val="1200"/>
              </a:spcAft>
              <a:defRPr sz="2000"/>
            </a:pPr>
            <a:r>
              <a:t>The model provides a recommendation; it does not autonomously change the network.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Deterministic Rule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Duplicate IP address detection.</a:t>
            </a:r>
          </a:p>
          <a:p>
            <a:pPr>
              <a:spcAft>
                <a:spcPts val="1200"/>
              </a:spcAft>
              <a:defRPr sz="2000"/>
            </a:pPr>
            <a:r>
              <a:t>Subnet-mask and network mismatch checks.</a:t>
            </a:r>
          </a:p>
          <a:p>
            <a:pPr>
              <a:spcAft>
                <a:spcPts val="1200"/>
              </a:spcAft>
              <a:defRPr sz="2000"/>
            </a:pPr>
            <a:r>
              <a:t>Default-gateway mismatch checks.</a:t>
            </a:r>
          </a:p>
          <a:p>
            <a:pPr>
              <a:spcAft>
                <a:spcPts val="1200"/>
              </a:spcAft>
              <a:defRPr sz="2000"/>
            </a:pPr>
            <a:r>
              <a:t>Interface-down / administratively-down conditions.</a:t>
            </a:r>
          </a:p>
          <a:p>
            <a:pPr>
              <a:spcAft>
                <a:spcPts val="1200"/>
              </a:spcAft>
              <a:defRPr sz="2000"/>
            </a:pPr>
            <a:r>
              <a:t>Missing VLAN detection.</a:t>
            </a:r>
          </a:p>
          <a:p>
            <a:pPr>
              <a:spcAft>
                <a:spcPts val="1200"/>
              </a:spcAft>
              <a:defRPr sz="2000"/>
            </a:pPr>
            <a:r>
              <a:t>Missing route, default-route, or OSPF information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Human Review &amp;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Every diagnosis is treated as a recommendation requiring human validation.</a:t>
            </a:r>
          </a:p>
          <a:p>
            <a:pPr>
              <a:spcAft>
                <a:spcPts val="1200"/>
              </a:spcAft>
              <a:defRPr sz="2000"/>
            </a:pPr>
            <a:r>
              <a:t>Accepted: diagnosis agrees with the expected fault.</a:t>
            </a:r>
          </a:p>
          <a:p>
            <a:pPr>
              <a:spcAft>
                <a:spcPts val="1200"/>
              </a:spcAft>
              <a:defRPr sz="2000"/>
            </a:pPr>
            <a:r>
              <a:t>Edited: reviewer corrects or improves the recommendation.</a:t>
            </a:r>
          </a:p>
          <a:p>
            <a:pPr>
              <a:spcAft>
                <a:spcPts val="1200"/>
              </a:spcAft>
              <a:defRPr sz="2000"/>
            </a:pPr>
            <a:r>
              <a:t>Rejected: recommendation is not suitable for the case.</a:t>
            </a:r>
          </a:p>
          <a:p>
            <a:pPr>
              <a:spcAft>
                <a:spcPts val="1200"/>
              </a:spcAft>
              <a:defRPr sz="2000"/>
            </a:pPr>
            <a:r>
              <a:t>Corrections are retained in the responsible-AI log for auditability.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Cases evaluated: 30</a:t>
            </a:r>
          </a:p>
          <a:p>
            <a:pPr>
              <a:spcAft>
                <a:spcPts val="1200"/>
              </a:spcAft>
              <a:defRPr sz="2000"/>
            </a:pPr>
            <a:r>
              <a:t>Accepted: 25</a:t>
            </a:r>
          </a:p>
          <a:p>
            <a:pPr>
              <a:spcAft>
                <a:spcPts val="1200"/>
              </a:spcAft>
              <a:defRPr sz="2000"/>
            </a:pPr>
            <a:r>
              <a:t>Edited: 2</a:t>
            </a:r>
          </a:p>
          <a:p>
            <a:pPr>
              <a:spcAft>
                <a:spcPts val="1200"/>
              </a:spcAft>
              <a:defRPr sz="2000"/>
            </a:pPr>
            <a:r>
              <a:t>Rejected: 3</a:t>
            </a:r>
          </a:p>
          <a:p>
            <a:pPr>
              <a:spcAft>
                <a:spcPts val="1200"/>
              </a:spcAft>
              <a:defRPr sz="2000"/>
            </a:pPr>
            <a:r>
              <a:t>Direct AI/human agreement: 83.3%</a:t>
            </a:r>
          </a:p>
          <a:p>
            <a:pPr>
              <a:spcAft>
                <a:spcPts val="1200"/>
              </a:spcAft>
              <a:defRPr sz="2000"/>
            </a:pPr>
            <a:r>
              <a:t>The evaluation records are reproducible project data, not claimed as live external-model API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Dashboard summarizes troubleshooting cases by category.</a:t>
            </a:r>
          </a:p>
          <a:p>
            <a:pPr>
              <a:spcAft>
                <a:spcPts val="1200"/>
              </a:spcAft>
              <a:defRPr sz="2000"/>
            </a:pPr>
            <a:r>
              <a:t>Human-review outcomes are shown as Accepted / Edited / Rejected.</a:t>
            </a:r>
          </a:p>
          <a:p>
            <a:pPr>
              <a:spcAft>
                <a:spcPts val="1200"/>
              </a:spcAft>
              <a:defRPr sz="2000"/>
            </a:pPr>
            <a:r>
              <a:t>Excel dashboard includes Dashboard and Case Data sheets.</a:t>
            </a:r>
          </a:p>
          <a:p>
            <a:pPr>
              <a:spcAft>
                <a:spcPts val="1200"/>
              </a:spcAft>
              <a:defRPr sz="2000"/>
            </a:pPr>
            <a:r>
              <a:t>HTML dashboard provides a lightweight presentation 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Open one deliberately broken Packet Tracer case.</a:t>
            </a:r>
          </a:p>
          <a:p>
            <a:pPr>
              <a:spcAft>
                <a:spcPts val="1200"/>
              </a:spcAft>
              <a:defRPr sz="2000"/>
            </a:pPr>
            <a:r>
              <a:t>Show the symptom and relevant evidence.</a:t>
            </a:r>
          </a:p>
          <a:p>
            <a:pPr>
              <a:spcAft>
                <a:spcPts val="1200"/>
              </a:spcAft>
              <a:defRPr sz="2000"/>
            </a:pPr>
            <a:r>
              <a:t>Run the deterministic checker.</a:t>
            </a:r>
          </a:p>
          <a:p>
            <a:pPr>
              <a:spcAft>
                <a:spcPts val="1200"/>
              </a:spcAft>
              <a:defRPr sz="2000"/>
            </a:pPr>
            <a:r>
              <a:t>Generate the structured AI diagnosis.</a:t>
            </a:r>
          </a:p>
          <a:p>
            <a:pPr>
              <a:spcAft>
                <a:spcPts val="1200"/>
              </a:spcAft>
              <a:defRPr sz="2000"/>
            </a:pPr>
            <a:r>
              <a:t>Perform human review.</a:t>
            </a:r>
          </a:p>
          <a:p>
            <a:pPr>
              <a:spcAft>
                <a:spcPts val="1200"/>
              </a:spcAft>
              <a:defRPr sz="2000"/>
            </a:pPr>
            <a:r>
              <a:t>Apply the approved correction.</a:t>
            </a:r>
          </a:p>
          <a:p>
            <a:pPr>
              <a:spcAft>
                <a:spcPts val="1200"/>
              </a:spcAft>
              <a:defRPr sz="2000"/>
            </a:pPr>
            <a:r>
              <a:t>Repeat ping/show commands to verify the repair.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AI quality depends on the completeness and accuracy of supplied evidence.</a:t>
            </a:r>
          </a:p>
          <a:p>
            <a:pPr>
              <a:spcAft>
                <a:spcPts val="1200"/>
              </a:spcAft>
              <a:defRPr sz="2000"/>
            </a:pPr>
            <a:r>
              <a:t>High confidence does not replace human verification.</a:t>
            </a:r>
          </a:p>
          <a:p>
            <a:pPr>
              <a:spcAft>
                <a:spcPts val="1200"/>
              </a:spcAft>
              <a:defRPr sz="2000"/>
            </a:pPr>
            <a:r>
              <a:t>The deterministic checker covers selected common fault patterns.</a:t>
            </a:r>
          </a:p>
          <a:p>
            <a:pPr>
              <a:spcAft>
                <a:spcPts val="1200"/>
              </a:spcAft>
              <a:defRPr sz="2000"/>
            </a:pPr>
            <a:r>
              <a:t>Some CSV evidence fields summarize recorded Packet Tracer evidence rather than reproducing every screenshot verbatim.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NetSage AI combines AI-assisted diagnosis, deterministic checks, and human oversight.</a:t>
            </a:r>
          </a:p>
          <a:p>
            <a:pPr>
              <a:spcAft>
                <a:spcPts val="1200"/>
              </a:spcAft>
              <a:defRPr sz="2000"/>
            </a:pPr>
            <a:r>
              <a:t>The project currently contains 30 troubleshooting cases across the required networking domains.</a:t>
            </a:r>
          </a:p>
          <a:p>
            <a:pPr>
              <a:spcAft>
                <a:spcPts val="1200"/>
              </a:spcAft>
              <a:defRPr sz="2000"/>
            </a:pPr>
            <a:r>
              <a:t>The workflow demonstrates evidence-based troubleshooting rather than autonomous network modification.</a:t>
            </a:r>
          </a:p>
          <a:p>
            <a:pPr>
              <a:spcAft>
                <a:spcPts val="1200"/>
              </a:spcAft>
              <a:defRPr sz="2000"/>
            </a:pPr>
            <a:r>
              <a:t>The final deliverables include dataset, prompts, checker, diagnosis evaluation, responsible-AI log, dashboard, report, and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